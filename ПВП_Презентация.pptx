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81" r:id="rId2"/>
    <p:sldId id="257" r:id="rId3"/>
    <p:sldId id="258" r:id="rId4"/>
    <p:sldId id="259" r:id="rId5"/>
    <p:sldId id="260" r:id="rId6"/>
    <p:sldId id="261" r:id="rId7"/>
    <p:sldId id="278" r:id="rId8"/>
    <p:sldId id="279" r:id="rId9"/>
    <p:sldId id="262" r:id="rId10"/>
    <p:sldId id="264" r:id="rId11"/>
    <p:sldId id="280" r:id="rId12"/>
    <p:sldId id="265" r:id="rId13"/>
    <p:sldId id="266" r:id="rId14"/>
    <p:sldId id="267" r:id="rId15"/>
    <p:sldId id="277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92F"/>
    <a:srgbClr val="17171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6" y="4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14096-B885-42F0-8F37-ECE0AD9E2DC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9AA99-75E6-459E-9326-5096BAC2B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59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9AA99-75E6-459E-9326-5096BAC2BE4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38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75F24-2608-4C82-908E-A090E3820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309" y="1238115"/>
            <a:ext cx="7772400" cy="1470025"/>
          </a:xfrm>
          <a:noFill/>
        </p:spPr>
        <p:txBody>
          <a:bodyPr/>
          <a:lstStyle/>
          <a:p>
            <a:r>
              <a:rPr lang="ru-RU" dirty="0">
                <a:solidFill>
                  <a:srgbClr val="00B0F0"/>
                </a:solidFill>
              </a:rPr>
              <a:t>Пункт взимания платы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1D96D2-BFA3-429B-B505-58D672196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563" y="2252098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lang="ru-RU" sz="1800" dirty="0"/>
              <a:t>Подготовил студент группы ПИ-23-2</a:t>
            </a:r>
            <a:br>
              <a:rPr lang="ru-RU" sz="1800" dirty="0"/>
            </a:br>
            <a:r>
              <a:rPr lang="ru-RU" sz="1800" dirty="0"/>
              <a:t>Суханов Кирилл</a:t>
            </a:r>
          </a:p>
        </p:txBody>
      </p:sp>
    </p:spTree>
    <p:extLst>
      <p:ext uri="{BB962C8B-B14F-4D97-AF65-F5344CB8AC3E}">
        <p14:creationId xmlns:p14="http://schemas.microsoft.com/office/powerpoint/2010/main" val="1632948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396BB8-207C-4516-88C3-A355DC23B2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370"/>
          <a:stretch/>
        </p:blipFill>
        <p:spPr>
          <a:xfrm>
            <a:off x="1518388" y="114300"/>
            <a:ext cx="5238543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21228F-26D9-4ADB-82B8-707E3F3596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41"/>
          <a:stretch/>
        </p:blipFill>
        <p:spPr>
          <a:xfrm>
            <a:off x="895612" y="0"/>
            <a:ext cx="670142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E5CD1F-82BC-4AC4-8EDB-84E50ED39F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5716F7-033C-4784-B386-24C55B6F1F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13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F678F9-28BC-46A7-87C2-0D9ABF0305F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801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113B3D-EF37-4CC5-89DE-5FF6FB2EBF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FFB16F-090F-4537-A3BF-EF14FFF71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2012" y="454430"/>
            <a:ext cx="78702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Найти общую сумму выручки по каждому ПВП за все время.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Рисунок 1">
            <a:extLst>
              <a:ext uri="{FF2B5EF4-FFF2-40B4-BE49-F238E27FC236}">
                <a16:creationId xmlns:a16="http://schemas.microsoft.com/office/drawing/2014/main" id="{94F2969F-32D3-410F-8619-966409062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08"/>
          <a:stretch>
            <a:fillRect/>
          </a:stretch>
        </p:blipFill>
        <p:spPr bwMode="auto">
          <a:xfrm>
            <a:off x="476607" y="1315251"/>
            <a:ext cx="3589338" cy="278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ACD1F8B-03AC-4BA3-9E72-03F1D6774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93" y="4565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14C1B-B909-4685-AE72-2E45ED22305A}"/>
              </a:ext>
            </a:extLst>
          </p:cNvPr>
          <p:cNvSpPr txBox="1"/>
          <p:nvPr/>
        </p:nvSpPr>
        <p:spPr>
          <a:xfrm>
            <a:off x="3663245" y="1532649"/>
            <a:ext cx="54807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Формулировка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языке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SQL: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SELECT pp.name, SUM(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t.amount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) AS revenue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FROM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payment_points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 pp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JOIN transactions t ON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pp.id_point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 =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t.id_point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WHERE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t.status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 = '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успешно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'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GROUP BY pp.name;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Рисунок 16">
            <a:extLst>
              <a:ext uri="{FF2B5EF4-FFF2-40B4-BE49-F238E27FC236}">
                <a16:creationId xmlns:a16="http://schemas.microsoft.com/office/drawing/2014/main" id="{26FBE972-6987-43D9-9344-4B6F8A647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34"/>
          <a:stretch/>
        </p:blipFill>
        <p:spPr bwMode="auto">
          <a:xfrm>
            <a:off x="49664" y="1359074"/>
            <a:ext cx="3984625" cy="365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623D9DEE-A716-4420-9DC9-AF25A40CE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562" y="58726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961B9-74D9-404F-91EA-6D961126D8C6}"/>
              </a:ext>
            </a:extLst>
          </p:cNvPr>
          <p:cNvSpPr txBox="1"/>
          <p:nvPr/>
        </p:nvSpPr>
        <p:spPr>
          <a:xfrm>
            <a:off x="356991" y="334625"/>
            <a:ext cx="7496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Вывести список водителей, у которых сумма неоплаченных штрафов превышает 1000 рублей.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789643-6029-4141-862A-21C814D077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210"/>
          <a:stretch/>
        </p:blipFill>
        <p:spPr>
          <a:xfrm>
            <a:off x="4219024" y="1359074"/>
            <a:ext cx="4411409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46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DBDF58-3375-4A49-B459-B2CC63B8D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59" y="122656"/>
            <a:ext cx="55490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Блок-схема алгоритма транзакции хранимой процедуры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3" name="Рисунок 23">
            <a:extLst>
              <a:ext uri="{FF2B5EF4-FFF2-40B4-BE49-F238E27FC236}">
                <a16:creationId xmlns:a16="http://schemas.microsoft.com/office/drawing/2014/main" id="{C8C2CF78-DC82-4E2B-BF13-16F6FA513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792" y="0"/>
            <a:ext cx="1188071" cy="5319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FA7250-EB54-4E4D-9A76-620D26E0E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101" y="770567"/>
            <a:ext cx="603754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b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CREATE OR REPLACE FUNCTION "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add_fine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" (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"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p_driver_id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integer,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"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p_vehicle_id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integer,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"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p_fine_type_id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integer,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"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p_amount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numeric,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"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p_comment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text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RETURNS int4 LANGUAGE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plpgsql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'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DECLARE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new_fine_id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INT;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BEGIN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INSERT INTO fines (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id_driver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id_vehicle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id_fine_type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, amount, datetime,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payment_status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, comment)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VALUES (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p_driver_id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p_vehicle_id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p_fine_type_id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p_amount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, NOW(), ''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неоплачен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'',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p_comment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RETURNING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id_fine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 INTO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new_fine_id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;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new_fine_id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8438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Times New Roman" panose="02020603050405020304" pitchFamily="18" charset="0"/>
              </a:rPr>
              <a:t>END;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4B7050-9DCE-454B-AA25-B29FE7AA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5648</TotalTime>
  <Words>250</Words>
  <Application>Microsoft Office PowerPoint</Application>
  <PresentationFormat>Экран (16:9)</PresentationFormat>
  <Paragraphs>27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Пункт взимания платы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Кирилл Суханов</cp:lastModifiedBy>
  <cp:revision>8</cp:revision>
  <dcterms:created xsi:type="dcterms:W3CDTF">2013-01-27T09:14:16Z</dcterms:created>
  <dcterms:modified xsi:type="dcterms:W3CDTF">2026-06-05T07:30:22Z</dcterms:modified>
  <cp:category/>
</cp:coreProperties>
</file>