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8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КУРСОВОЙ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FF"/>
                </a:solidFill>
                <a:latin typeface="Calibri"/>
              </a:defRPr>
            </a:pPr>
            <a:r>
              <a:t>Информационная система «Управление Пунктами Взимания Платы» (ИС УПВП)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A0DD"/>
                </a:solidFill>
                <a:latin typeface="Calibri"/>
              </a:defRPr>
            </a:pPr>
            <a:r>
              <a:t>по дисциплине «Базы данных»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90CC"/>
                </a:solidFill>
                <a:latin typeface="Calibri"/>
              </a:defRPr>
            </a:pPr>
            <a:r>
              <a:t>СУБД: PostgreSQL 16  |  Язык: PHP 8.2  |  UI: Bootstrap 5.3 + DataTables + Chart.js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80BB"/>
                </a:solidFill>
                <a:latin typeface="Calibri"/>
              </a:defRPr>
            </a:pPr>
            <a:r>
              <a:t>2025 / 2026 учебный 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Характеристика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2 — Анализ предметной области платных автомобильных дорог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Предметная область: инфраструктура платных автомобильных дорог и процесс взимания платы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Пункты Взимания Платы (ПВП) — ключевые объекты, оснащённые полосами движения: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• Ручные полосы — оплата наличными/картой оператору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• Автоматические полосы — оплата через транспондер (Free-Flow)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• Смешанные полосы — комбинированный режим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Каждый ПВП состоит из нескольких полос, классифицируемых по типам ТС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Участники: водители (владельцы ТС), операторы ПВП, администраторы системы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Ключевые процессы: регистрация проезда, тарификация, биллинг, штрафы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Проблема: нецентрализованный учёт, задержки, отсутствие аналитики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Цель и задачи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3 — Назначение и функциональные требования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3/13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ЦЕЛЬ: Повышение пропускной способности ПВП, минимизация человеческого фактора, автоматизация биллинга и аналитики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Задачи системы: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а) Ведение единого реестра водителей, ТС и транспондеров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б) Автоматический расчет стоимости проезда (тарифная сетка: тип ТС × время × день)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в) Контроль баланса лицевых счетов с блокировкой при отрицательном балансе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г) Автоматическая и ручная генерация штрафов с контролем оплаты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д) Формирование аналитических дашбордов (выручка, загруженность, способы оплаты)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е) Экспорт данных в CSV для внешней отчётности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seCase_diagram_cus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4712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MN_diagram_cus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61288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ER-диаграмма концептуальной модели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6 — Концептуальное моделирование (нотация Чена)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6/13</a:t>
            </a:r>
          </a:p>
        </p:txBody>
      </p:sp>
      <p:pic>
        <p:nvPicPr>
          <p:cNvPr id="7" name="Picture 6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8706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Диаграмма логической модели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7 — Логическое проектирование (нотация Craw's Foot)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7/13</a:t>
            </a:r>
          </a:p>
        </p:txBody>
      </p:sp>
      <p:pic>
        <p:nvPicPr>
          <p:cNvPr id="7" name="Picture 6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13776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Диаграмма физической модели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8 — Физическое проектирование (СУБД PostgreSQL 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8/13</a:t>
            </a:r>
          </a:p>
        </p:txBody>
      </p:sp>
      <p:pic>
        <p:nvPicPr>
          <p:cNvPr id="7" name="Picture 6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60750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Примеры запросов к 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9 — Аналитические запросы (разбор 2 запросов)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9/13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Запрос №1: Выручка по каждому ПВП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Consolas"/>
              </a:defRPr>
            </a:pPr>
            <a:r>
              <a:t>SELECT pp.name, SUM(t.amount) AS revenue</a:t>
            </a:r>
            <a:br/>
            <a:r>
              <a:t>FROM payment_points pp</a:t>
            </a:r>
            <a:br/>
            <a:r>
              <a:t>JOIN transactions t ON pp.id_point = t.id_point</a:t>
            </a:r>
            <a:br/>
            <a:r>
              <a:t>WHERE t.status = 'успешно'</a:t>
            </a:r>
            <a:br/>
            <a:r>
              <a:t>GROUP BY pp.name;</a:t>
            </a:r>
          </a:p>
          <a:p>
            <a:pPr>
              <a:defRPr sz="1000">
                <a:solidFill>
                  <a:srgbClr val="2C5F8A"/>
                </a:solidFill>
                <a:latin typeface="Calibri"/>
              </a:defRPr>
            </a:pPr>
            <a:r>
              <a:t>Алгебра: π name, revenue (γ name, SUM(amount)→revenue (σ status='успешно' (payment_points ⋈ transactions)))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Запрос №4: Водители с неоплаченными штрафами (&gt;1)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Consolas"/>
              </a:defRPr>
            </a:pPr>
            <a:r>
              <a:t>SELECT d.full_name</a:t>
            </a:r>
            <a:br/>
            <a:r>
              <a:t>FROM drivers d</a:t>
            </a:r>
            <a:br/>
            <a:r>
              <a:t>JOIN fines f ON d.id_driver = f.id_driver</a:t>
            </a:r>
            <a:br/>
            <a:r>
              <a:t>WHERE f.payment_status = 'неоплачен'</a:t>
            </a:r>
            <a:br/>
            <a:r>
              <a:t>GROUP BY d.id_driver, d.full_name</a:t>
            </a:r>
            <a:br/>
            <a:r>
              <a:t>HAVING COUNT(f.id_fine) &gt; 3;</a:t>
            </a:r>
          </a:p>
          <a:p>
            <a:pPr>
              <a:defRPr sz="1000">
                <a:solidFill>
                  <a:srgbClr val="2C5F8A"/>
                </a:solidFill>
                <a:latin typeface="Calibri"/>
              </a:defRPr>
            </a:pPr>
            <a:r>
              <a:t>Исчисление: {t.full_name | ∃d∈drivers ∃f∈fines (d.id_driver=f.id_driver ∧ ...)}</a:t>
            </a:r>
          </a:p>
        </p:txBody>
      </p:sp>
      <p:pic>
        <p:nvPicPr>
          <p:cNvPr id="13" name="Picture 12" descr="im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13368937"/>
          </a:xfrm>
          <a:prstGeom prst="rect">
            <a:avLst/>
          </a:prstGeom>
        </p:spPr>
      </p:pic>
      <p:pic>
        <p:nvPicPr>
          <p:cNvPr id="14" name="Picture 13" descr="imag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03520" cy="2581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Блок-схемы алгоритмов хранимых процедур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10 — Алгоритмы работы PL/pgSQL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10/13</a:t>
            </a:r>
          </a:p>
        </p:txBody>
      </p:sp>
      <p:pic>
        <p:nvPicPr>
          <p:cNvPr id="7" name="Picture 6" descr="im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019177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5544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Хранимые процедуры: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1. add_fine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Регистрация нового штрафа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Вход: id_driver, id_vehicle,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 id_fine_type, amount, comment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Выход: id_fine (serial)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Статус по умолч.: «неоплачен»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2. auto_fine_for_non_payment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Триггер AFTER INSERT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При статусе «неоплата»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 автосоздание штрафа 500₽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3. check_balance_before_transaction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Триггер BEFORE INSERT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— Проверка balance &gt;= amount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 при оплате транспондером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Архитектура информационной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11 — Диаграмма компонентов UML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11/13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474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КЛИЕНТСКИЙ УРОВЕНЬ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Браузер (Chrome/Firefox)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Bootstrap 5.3 UI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jQuery + DataTables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Chart.js графики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AJAX-запросы к серверу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SPA-архитектура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474720" cy="457200"/>
          </a:xfrm>
          <a:prstGeom prst="rect">
            <a:avLst/>
          </a:prstGeom>
          <a:solidFill>
            <a:srgbClr val="3A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СЕРВЕР ПРИЛОЖЕНИЙ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PHP 8.2 + PDO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index.php — контроллер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REST-подобные API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JSON-ответы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Подключение View-файлов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Бизнес-логика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3474720" cy="2286000"/>
          </a:xfrm>
          <a:prstGeom prst="rect">
            <a:avLst/>
          </a:prstGeom>
          <a:solidFill>
            <a:srgbClr val="FD0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3474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УРОВЕНЬ БАЗЫ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PostgreSQL 16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11 таблиц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Хранимые процедуры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Триггеры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Индексы</a:t>
            </a:r>
          </a:p>
          <a:p>
            <a:pPr>
              <a:spcAft>
                <a:spcPts val="48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PL/pgSQL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2788920"/>
            <a:ext cx="457200" cy="0"/>
          </a:xfrm>
          <a:prstGeom prst="line">
            <a:avLst/>
          </a:prstGeom>
          <a:ln w="2540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788920"/>
            <a:ext cx="457200" cy="0"/>
          </a:xfrm>
          <a:prstGeom prst="line">
            <a:avLst/>
          </a:prstGeom>
          <a:ln w="2540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Протоколы: HTTPS (UI↔Server), TCP/IP порт 5432 (Server↔DB)</a:t>
            </a:r>
          </a:p>
          <a:p>
            <a:pPr>
              <a:spcAft>
                <a:spcPts val="56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Формат данных: JSON (AJAX), CSV (экспорт статистики)</a:t>
            </a:r>
          </a:p>
          <a:p>
            <a:pPr>
              <a:spcAft>
                <a:spcPts val="56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Контейнеризация: Docker (PHP 8.2 + PostgreSQL 16 + Adminer)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Интерфейс прикладного приложения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12 — Основные экраны системы ИС УПВП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12/13</a:t>
            </a:r>
          </a:p>
        </p:txBody>
      </p:sp>
      <p:pic>
        <p:nvPicPr>
          <p:cNvPr id="7" name="Picture 6" descr="im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12577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Главная страница (Дашборд):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Карточки метрик: транзакции за 30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дней, выручка, активные водители,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средний чек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Таблица последних 5 транзакций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Кнопки быстрых действий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Боковое меню: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Главная | Пункты оплаты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Водители | Автомобили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Транзакции | Штрафы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Статистика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Интерфейс прикладного приложения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12b — Управление водителями и автомобилями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Реестр водителей: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Таблица DataTable с поиском и пагинацией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Отображение: ФИО, телефон, баланс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Действия: профиль (карточка), удаление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Цветовая индикация баланса (&lt;100₽ — красный)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Карточка водителя (модальное окно):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Личные данные, финансы (баланс, долг)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Список автомобилей и транспондеров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Форма пополнения баланса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Статистика поездок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Реестр автомобилей: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Фильтры: тип авто, владелец, поиск по госномеру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CRUD: добавление, редактирование, удаление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Интерфейс прикладного приложения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F"/>
                </a:solidFill>
                <a:latin typeface="Calibri"/>
              </a:defRPr>
            </a:pPr>
            <a:r>
              <a:t>Slide 12c — Транзакции, штрафы, статистика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DD"/>
                </a:solidFill>
                <a:latin typeface="Calibri"/>
              </a:defRPr>
            </a:pPr>
            <a:r>
              <a:t>ИС УПВП | Слайд 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Транзакции: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Фильтры: ПВП, способ оплаты, статус, дата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Форма регистрации с динамической загрузкой полос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Автоподстановка тарифа по типу ТС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Интеграция с транспондером (проверка баланса)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Штрафы: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Назначение штрафа с автозаполнением водителя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Справочник типов штрафов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Отметка об оплате, удаление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Статистика (дашборд аналитики):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4 графика Chart.js: выручка, способы оплаты, топ ПВП, топ водителей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Таблица детализации с суммами и средним чеком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Экспорт в CSV (совместимость с Excel)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Фильтры: период, ПВП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8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Разработана ИС «Управление Пунктами Взимания Платы» (ИС УПВП)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СУБД: PostgreSQL 16, 11 таблиц, 3 триггера, 6 индексов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Сервер: PHP 8.2, архитектура SPA, AJAX, CRUD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UI: Bootstrap 5.3, jQuery DataTables, Chart.js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Docker-контейнеризация (PHP + PostgreSQL + Adminer)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5 аналитических запросов (SQL + алгебра + исчисление)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2 пользовательских представления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Полное соответствие требованиям СТО-13-2016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Стек: PHP 8.2 + PostgreSQL 16 + Bootstrap 5.3 +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